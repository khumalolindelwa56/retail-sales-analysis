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5" r:id="rId5"/>
    <p:sldId id="267" r:id="rId6"/>
    <p:sldId id="262" r:id="rId7"/>
    <p:sldId id="266" r:id="rId8"/>
    <p:sldId id="268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4B59-036B-4642-8959-0AB2C5F2F4C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62E1C-D96A-480B-A8EA-11F39ECE4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022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4B59-036B-4642-8959-0AB2C5F2F4C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62E1C-D96A-480B-A8EA-11F39ECE4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61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4B59-036B-4642-8959-0AB2C5F2F4C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62E1C-D96A-480B-A8EA-11F39ECE4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173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4B59-036B-4642-8959-0AB2C5F2F4C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62E1C-D96A-480B-A8EA-11F39ECE4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234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4B59-036B-4642-8959-0AB2C5F2F4C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62E1C-D96A-480B-A8EA-11F39ECE4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41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4B59-036B-4642-8959-0AB2C5F2F4C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62E1C-D96A-480B-A8EA-11F39ECE4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613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4B59-036B-4642-8959-0AB2C5F2F4C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62E1C-D96A-480B-A8EA-11F39ECE4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991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4B59-036B-4642-8959-0AB2C5F2F4C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62E1C-D96A-480B-A8EA-11F39ECE4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054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4B59-036B-4642-8959-0AB2C5F2F4C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62E1C-D96A-480B-A8EA-11F39ECE4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933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4B59-036B-4642-8959-0AB2C5F2F4C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62E1C-D96A-480B-A8EA-11F39ECE4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043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34B59-036B-4642-8959-0AB2C5F2F4C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62E1C-D96A-480B-A8EA-11F39ECE4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0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34B59-036B-4642-8959-0AB2C5F2F4C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62E1C-D96A-480B-A8EA-11F39ECE4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222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122362"/>
            <a:ext cx="9144000" cy="413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33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Sales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                      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Daily &amp; Weekly Sales Insights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			LINDELWA KHUMALO:</a:t>
            </a:r>
            <a:r>
              <a:rPr lang="en-US" dirty="0" smtClean="0"/>
              <a:t> October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089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Sales Performance by Day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 fontScale="92500"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 average unit sales price remains consistently high from January through August.</a:t>
            </a:r>
          </a:p>
          <a:p>
            <a:r>
              <a:rPr lang="en-US" dirty="0" smtClean="0"/>
              <a:t>There is a clear and significant drop in the average unit sales price starting in September.</a:t>
            </a:r>
          </a:p>
          <a:p>
            <a:r>
              <a:rPr lang="en-US" dirty="0" smtClean="0"/>
              <a:t>We maintained excellent pricing strength, keeping our average unit sales price consistently above for eight straight months, from January through August. This speaks to the value perception of our products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570" y="1825624"/>
            <a:ext cx="4525006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51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38504"/>
            <a:ext cx="12192000" cy="501949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b="1" dirty="0" smtClean="0"/>
              <a:t>highest quantities</a:t>
            </a:r>
            <a:r>
              <a:rPr lang="en-US" dirty="0" smtClean="0"/>
              <a:t> of units are sold on the </a:t>
            </a:r>
            <a:r>
              <a:rPr lang="en-US" b="1" dirty="0" smtClean="0"/>
              <a:t>weekend</a:t>
            </a:r>
            <a:r>
              <a:rPr lang="en-US" dirty="0" smtClean="0"/>
              <a:t>, with </a:t>
            </a:r>
            <a:r>
              <a:rPr lang="en-US" b="1" dirty="0" smtClean="0"/>
              <a:t>Saturday</a:t>
            </a:r>
            <a:r>
              <a:rPr lang="en-US" dirty="0" smtClean="0"/>
              <a:t> and </a:t>
            </a:r>
            <a:r>
              <a:rPr lang="en-US" b="1" dirty="0" smtClean="0"/>
              <a:t>Friday</a:t>
            </a:r>
            <a:r>
              <a:rPr lang="en-US" dirty="0" smtClean="0"/>
              <a:t> being the clear leaders.</a:t>
            </a:r>
          </a:p>
          <a:p>
            <a:pPr marL="0" indent="0">
              <a:buNone/>
            </a:pPr>
            <a:r>
              <a:rPr lang="en-US" b="1" dirty="0" smtClean="0"/>
              <a:t>Friday and Saturday drive our unit volume</a:t>
            </a:r>
            <a:r>
              <a:rPr lang="en-US" dirty="0" smtClean="0"/>
              <a:t>, accounting for over 35% of the total units sold in the week. This is critical for moving inventory and gaining market share.</a:t>
            </a:r>
          </a:p>
          <a:p>
            <a:pPr marL="0" indent="0">
              <a:buNone/>
            </a:pPr>
            <a:r>
              <a:rPr lang="en-US" dirty="0" smtClean="0"/>
              <a:t>We need to study what premium products are selling on Thursday and find a way to </a:t>
            </a:r>
            <a:r>
              <a:rPr lang="en-US" b="1" dirty="0" smtClean="0"/>
              <a:t>scale that volume</a:t>
            </a:r>
            <a:r>
              <a:rPr lang="en-US" dirty="0" smtClean="0"/>
              <a:t> without sacrificing the high price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233" y="1985761"/>
            <a:ext cx="4715533" cy="248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39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 of Daily per unit by Month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 fontScale="85000" lnSpcReduction="2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Peak Months:</a:t>
            </a:r>
            <a:r>
              <a:rPr lang="en-US" dirty="0" smtClean="0"/>
              <a:t> </a:t>
            </a:r>
            <a:r>
              <a:rPr lang="en-US" b="1" dirty="0" smtClean="0"/>
              <a:t>January, March, July, and August </a:t>
            </a:r>
            <a:r>
              <a:rPr lang="en-US" dirty="0" smtClean="0"/>
              <a:t>achieved the highest price points, nearing </a:t>
            </a:r>
            <a:r>
              <a:rPr lang="en-US" b="1" dirty="0" smtClean="0"/>
              <a:t>$3,500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Insight:</a:t>
            </a:r>
            <a:r>
              <a:rPr lang="en-US" dirty="0" smtClean="0"/>
              <a:t> This eight-month period showcases the business's ability to command a premium price and maintain high margins.</a:t>
            </a:r>
          </a:p>
          <a:p>
            <a:r>
              <a:rPr lang="en-US" dirty="0" smtClean="0"/>
              <a:t>The severe decline in the </a:t>
            </a:r>
            <a:r>
              <a:rPr lang="en-US" b="1" dirty="0" smtClean="0"/>
              <a:t>Average Unit Price</a:t>
            </a:r>
            <a:r>
              <a:rPr lang="en-US" dirty="0" smtClean="0"/>
              <a:t> did </a:t>
            </a:r>
            <a:r>
              <a:rPr lang="en-US" b="1" dirty="0" smtClean="0"/>
              <a:t>not</a:t>
            </a:r>
            <a:r>
              <a:rPr lang="en-US" dirty="0" smtClean="0"/>
              <a:t> generate enough compensating </a:t>
            </a:r>
            <a:r>
              <a:rPr lang="en-US" b="1" dirty="0" smtClean="0"/>
              <a:t>Total Sales Revenue</a:t>
            </a:r>
            <a:r>
              <a:rPr lang="en-US" dirty="0" smtClean="0"/>
              <a:t>, indicating that our promotional depth or product mix is deeply eroding profitability without maximizing sales volume.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035" y="2224267"/>
            <a:ext cx="3810532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191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Total </a:t>
            </a:r>
            <a:r>
              <a:rPr lang="en-US" dirty="0" err="1" smtClean="0"/>
              <a:t>Avg</a:t>
            </a:r>
            <a:r>
              <a:rPr lang="en-US" dirty="0" smtClean="0"/>
              <a:t> Unit Sales Price per Month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 company maintained a </a:t>
            </a:r>
            <a:r>
              <a:rPr lang="en-US" b="1" dirty="0" smtClean="0"/>
              <a:t>very high and stable average unit sales price (AUSP)</a:t>
            </a:r>
            <a:r>
              <a:rPr lang="en-US" dirty="0" smtClean="0"/>
              <a:t> for the first three quarters (January through September)</a:t>
            </a:r>
          </a:p>
          <a:p>
            <a:r>
              <a:rPr lang="en-US" dirty="0" smtClean="0"/>
              <a:t>This sustained high price point suggests </a:t>
            </a:r>
            <a:r>
              <a:rPr lang="en-US" b="1" dirty="0" smtClean="0"/>
              <a:t>strong brand loyalty</a:t>
            </a:r>
            <a:r>
              <a:rPr lang="en-US" dirty="0" smtClean="0"/>
              <a:t>, a </a:t>
            </a:r>
            <a:r>
              <a:rPr lang="en-US" b="1" dirty="0" smtClean="0"/>
              <a:t>premium product mix</a:t>
            </a:r>
            <a:r>
              <a:rPr lang="en-US" dirty="0" smtClean="0"/>
              <a:t>, or </a:t>
            </a:r>
            <a:r>
              <a:rPr lang="en-US" b="1" dirty="0" smtClean="0"/>
              <a:t>effective margin management</a:t>
            </a:r>
            <a:r>
              <a:rPr lang="en-US" dirty="0" smtClean="0"/>
              <a:t> for the majority of the year. This period is a model for pricing strategy.</a:t>
            </a:r>
          </a:p>
          <a:p>
            <a:r>
              <a:rPr lang="en-US" dirty="0" smtClean="0"/>
              <a:t>This massive reduction strongly indicates a major shift in sales strategy, likely driven by </a:t>
            </a:r>
            <a:r>
              <a:rPr lang="en-US" b="1" dirty="0" smtClean="0"/>
              <a:t>heavy, sustained discounting</a:t>
            </a:r>
            <a:r>
              <a:rPr lang="en-US" dirty="0" smtClean="0"/>
              <a:t> (Black Friday/Holiday sales) or a massive spike in sales of </a:t>
            </a:r>
            <a:r>
              <a:rPr lang="en-US" b="1" dirty="0" smtClean="0"/>
              <a:t>low-cost, entry-level products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119" y="1533590"/>
            <a:ext cx="4534533" cy="261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145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Total Sales Per Month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25775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b="1" dirty="0" smtClean="0"/>
              <a:t>May</a:t>
            </a:r>
            <a:r>
              <a:rPr lang="en-US" dirty="0" smtClean="0"/>
              <a:t> is the month with the </a:t>
            </a:r>
            <a:r>
              <a:rPr lang="en-US" b="1" dirty="0" smtClean="0"/>
              <a:t>highest total sales </a:t>
            </a:r>
            <a:r>
              <a:rPr lang="en-US" dirty="0" smtClean="0"/>
              <a:t>and</a:t>
            </a:r>
            <a:r>
              <a:rPr lang="en-US" b="1" dirty="0" smtClean="0"/>
              <a:t> November is the month with the lowest total sales revenue</a:t>
            </a:r>
            <a:r>
              <a:rPr lang="en-US" dirty="0" smtClean="0"/>
              <a:t> by a considerable margin.</a:t>
            </a:r>
          </a:p>
          <a:p>
            <a:r>
              <a:rPr lang="en-US" dirty="0" smtClean="0"/>
              <a:t>This five-month window drives a disproportionately high amount of the company's annual revenue. This indicates a strong seasonal peak, potentially related to specific product cycles, weather, or campaign timing.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2997" y="1966709"/>
            <a:ext cx="4576756" cy="278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620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Recommendations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smtClean="0"/>
              <a:t>Boost Low-Value Days (Mon-Tue):</a:t>
            </a:r>
          </a:p>
          <a:p>
            <a:pPr marL="0" indent="0">
              <a:buNone/>
            </a:pPr>
            <a:r>
              <a:rPr lang="en-US" dirty="0" smtClean="0"/>
              <a:t>Run </a:t>
            </a:r>
            <a:r>
              <a:rPr lang="en-US" b="1" dirty="0" smtClean="0"/>
              <a:t>targeted digital campaigns</a:t>
            </a:r>
            <a:r>
              <a:rPr lang="en-US" dirty="0" smtClean="0"/>
              <a:t> (social media, email) offering a </a:t>
            </a:r>
            <a:r>
              <a:rPr lang="en-US" b="1" dirty="0" smtClean="0"/>
              <a:t>"Monday-Tuesday Exclusive Value Item"</a:t>
            </a:r>
            <a:r>
              <a:rPr lang="en-US" dirty="0" smtClean="0"/>
              <a:t> or limited-time deal</a:t>
            </a:r>
          </a:p>
          <a:p>
            <a:r>
              <a:rPr lang="en-US" b="1" dirty="0" smtClean="0"/>
              <a:t>Optimize "High-Volume" Days (Fri-Sat):</a:t>
            </a:r>
          </a:p>
          <a:p>
            <a:pPr marL="0" indent="0">
              <a:buNone/>
            </a:pPr>
            <a:r>
              <a:rPr lang="en-US" dirty="0" smtClean="0"/>
              <a:t>Introduce a </a:t>
            </a:r>
            <a:r>
              <a:rPr lang="en-US" b="1" dirty="0" smtClean="0"/>
              <a:t>Minimum Threshold for Free Shipping/Gift</a:t>
            </a:r>
            <a:r>
              <a:rPr lang="en-US" dirty="0" smtClean="0"/>
              <a:t> on Friday and Saturday.</a:t>
            </a:r>
          </a:p>
          <a:p>
            <a:r>
              <a:rPr lang="en-US" b="1" dirty="0" smtClean="0"/>
              <a:t>Leverage "High-Price" Days (Mon-Thu):</a:t>
            </a:r>
          </a:p>
          <a:p>
            <a:pPr marL="0" indent="0">
              <a:buNone/>
            </a:pPr>
            <a:r>
              <a:rPr lang="en-US" dirty="0" smtClean="0"/>
              <a:t>Implement an </a:t>
            </a:r>
            <a:r>
              <a:rPr lang="en-US" b="1" dirty="0" smtClean="0"/>
              <a:t>Upselling and</a:t>
            </a:r>
            <a:r>
              <a:rPr lang="en-US" dirty="0" smtClean="0"/>
              <a:t> Cross-Selling Program specifically for Monday-Thursday sales teams.</a:t>
            </a:r>
          </a:p>
          <a:p>
            <a:r>
              <a:rPr lang="en-US" b="1" dirty="0" smtClean="0"/>
              <a:t>Align Sales &amp; Marketing: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Create unified goals and dashboards (KPIs) for both teams focused on </a:t>
            </a:r>
            <a:r>
              <a:rPr lang="en-US" b="1" dirty="0" smtClean="0"/>
              <a:t>Gross Margin</a:t>
            </a:r>
            <a:r>
              <a:rPr lang="en-US" dirty="0" smtClean="0"/>
              <a:t>, not just raw revenue or volume. The marketing team must understand the </a:t>
            </a:r>
            <a:r>
              <a:rPr lang="en-US" b="1" dirty="0" smtClean="0"/>
              <a:t>profit sensitivity</a:t>
            </a:r>
            <a:r>
              <a:rPr lang="en-US" dirty="0" smtClean="0"/>
              <a:t> of their promotions.</a:t>
            </a:r>
          </a:p>
          <a:p>
            <a:r>
              <a:rPr lang="en-US" b="1" dirty="0" smtClean="0"/>
              <a:t>Invest in Customer Loyalty: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Strengthen relationships with high-spending customers (the 20% who provide 80% of profit). Offer them </a:t>
            </a:r>
            <a:r>
              <a:rPr lang="en-US" b="1" dirty="0" smtClean="0"/>
              <a:t>early access</a:t>
            </a:r>
            <a:r>
              <a:rPr lang="en-US" dirty="0" smtClean="0"/>
              <a:t> or </a:t>
            </a:r>
            <a:r>
              <a:rPr lang="en-US" b="1" dirty="0" smtClean="0"/>
              <a:t>exclusive pricing</a:t>
            </a:r>
            <a:r>
              <a:rPr lang="en-US" dirty="0" smtClean="0"/>
              <a:t> instead of public discounts.</a:t>
            </a:r>
          </a:p>
          <a:p>
            <a:r>
              <a:rPr lang="en-US" b="1" dirty="0" smtClean="0"/>
              <a:t>Profit-Focused Promotions: </a:t>
            </a:r>
          </a:p>
          <a:p>
            <a:pPr marL="0" indent="0">
              <a:buNone/>
            </a:pPr>
            <a:r>
              <a:rPr lang="en-US" dirty="0" smtClean="0"/>
              <a:t>Shift from deep, flat discounts (e.g., "50% Off Everything") to </a:t>
            </a:r>
            <a:r>
              <a:rPr lang="en-US" b="1" dirty="0" smtClean="0"/>
              <a:t>Value-Based Bundling and Tiered Rewards.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711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	THE END 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854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</TotalTime>
  <Words>560</Words>
  <Application>Microsoft Office PowerPoint</Application>
  <PresentationFormat>Widescreen</PresentationFormat>
  <Paragraphs>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Sales Analysis</vt:lpstr>
      <vt:lpstr>Sales Performance by Day</vt:lpstr>
      <vt:lpstr>PowerPoint Presentation</vt:lpstr>
      <vt:lpstr>Sum of Daily per unit by Month</vt:lpstr>
      <vt:lpstr>Total Avg Unit Sales Price per Month</vt:lpstr>
      <vt:lpstr>Total Sales Per Month</vt:lpstr>
      <vt:lpstr>Recommendations</vt:lpstr>
      <vt:lpstr>            THE END 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lee</dc:creator>
  <cp:lastModifiedBy>lee</cp:lastModifiedBy>
  <cp:revision>16</cp:revision>
  <dcterms:created xsi:type="dcterms:W3CDTF">2025-10-26T23:50:15Z</dcterms:created>
  <dcterms:modified xsi:type="dcterms:W3CDTF">2025-11-24T10:00:40Z</dcterms:modified>
</cp:coreProperties>
</file>